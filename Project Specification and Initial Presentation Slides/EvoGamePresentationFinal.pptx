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8"/>
  </p:notesMasterIdLst>
  <p:handoutMasterIdLst>
    <p:handoutMasterId r:id="rId19"/>
  </p:handoutMasterIdLst>
  <p:sldIdLst>
    <p:sldId id="256" r:id="rId5"/>
    <p:sldId id="277" r:id="rId6"/>
    <p:sldId id="262" r:id="rId7"/>
    <p:sldId id="264" r:id="rId8"/>
    <p:sldId id="266" r:id="rId9"/>
    <p:sldId id="298" r:id="rId10"/>
    <p:sldId id="289" r:id="rId11"/>
    <p:sldId id="296" r:id="rId12"/>
    <p:sldId id="295" r:id="rId13"/>
    <p:sldId id="270" r:id="rId14"/>
    <p:sldId id="294" r:id="rId15"/>
    <p:sldId id="297" r:id="rId16"/>
    <p:sldId id="27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9" autoAdjust="0"/>
  </p:normalViewPr>
  <p:slideViewPr>
    <p:cSldViewPr snapToGrid="0">
      <p:cViewPr varScale="1">
        <p:scale>
          <a:sx n="104" d="100"/>
          <a:sy n="104" d="100"/>
        </p:scale>
        <p:origin x="354" y="114"/>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12/21/2025</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12/21/2025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image" Target="../media/image15.png"/><Relationship Id="rId1" Type="http://schemas.openxmlformats.org/officeDocument/2006/relationships/slideMaster" Target="../slideMasters/slideMaster1.xml"/><Relationship Id="rId6" Type="http://schemas.openxmlformats.org/officeDocument/2006/relationships/image" Target="../media/image19.png"/><Relationship Id="rId5" Type="http://schemas.openxmlformats.org/officeDocument/2006/relationships/image" Target="../media/image18.svg"/><Relationship Id="rId4" Type="http://schemas.openxmlformats.org/officeDocument/2006/relationships/image" Target="../media/image1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700" r:id="rId12"/>
    <p:sldLayoutId id="2147483692" r:id="rId13"/>
    <p:sldLayoutId id="2147483681" r:id="rId14"/>
    <p:sldLayoutId id="2147483674" r:id="rId15"/>
    <p:sldLayoutId id="2147483675" r:id="rId16"/>
    <p:sldLayoutId id="2147483696" r:id="rId17"/>
    <p:sldLayoutId id="2147483677" r:id="rId18"/>
    <p:sldLayoutId id="2147483678" r:id="rId19"/>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26699" y="643425"/>
            <a:ext cx="13583965" cy="2144398"/>
          </a:xfrm>
        </p:spPr>
        <p:txBody>
          <a:bodyPr/>
          <a:lstStyle/>
          <a:p>
            <a:r>
              <a:rPr lang="en-US" sz="4400" dirty="0">
                <a:solidFill>
                  <a:srgbClr val="000000"/>
                </a:solidFill>
                <a:latin typeface="Calibri"/>
                <a:ea typeface="Calibri"/>
                <a:cs typeface="Calibri"/>
              </a:rPr>
              <a:t>EvoGame: </a:t>
            </a:r>
            <a:br>
              <a:rPr lang="en-US" sz="4400" dirty="0">
                <a:solidFill>
                  <a:srgbClr val="000000"/>
                </a:solidFill>
                <a:latin typeface="Calibri"/>
                <a:ea typeface="Calibri"/>
                <a:cs typeface="Calibri"/>
              </a:rPr>
            </a:br>
            <a:r>
              <a:rPr lang="en-US" sz="4400" dirty="0">
                <a:solidFill>
                  <a:srgbClr val="000000"/>
                </a:solidFill>
                <a:latin typeface="Calibri"/>
                <a:ea typeface="Calibri"/>
                <a:cs typeface="Calibri"/>
              </a:rPr>
              <a:t>Evolving Game Strategies Using GE (Grammatical Evolution) </a:t>
            </a:r>
            <a:endParaRPr lang="en-US" dirty="0"/>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626700" y="3068573"/>
            <a:ext cx="7915428" cy="1920660"/>
          </a:xfrm>
        </p:spPr>
        <p:txBody>
          <a:bodyPr vert="horz" lIns="91440" tIns="45720" rIns="91440" bIns="45720" rtlCol="0" anchor="t">
            <a:normAutofit/>
          </a:bodyPr>
          <a:lstStyle/>
          <a:p>
            <a:r>
              <a:rPr lang="en-US" sz="1800" dirty="0"/>
              <a:t>Cormac Greaney / 22352228</a:t>
            </a:r>
          </a:p>
          <a:p>
            <a:r>
              <a:rPr lang="en-US" sz="1800" dirty="0"/>
              <a:t>Supervisor: Prof. Conor Ryan</a:t>
            </a:r>
          </a:p>
          <a:p>
            <a:r>
              <a:rPr lang="en-US" sz="1800" dirty="0"/>
              <a:t>University of Limerick</a:t>
            </a:r>
          </a:p>
          <a:p>
            <a:r>
              <a:rPr lang="en-US" sz="1800" dirty="0"/>
              <a:t>Date: 31/10/2025</a:t>
            </a:r>
          </a:p>
        </p:txBody>
      </p:sp>
      <p:sp>
        <p:nvSpPr>
          <p:cNvPr id="4" name="TextBox 3">
            <a:extLst>
              <a:ext uri="{FF2B5EF4-FFF2-40B4-BE49-F238E27FC236}">
                <a16:creationId xmlns:a16="http://schemas.microsoft.com/office/drawing/2014/main" id="{B9C7DEA3-2791-AD19-81FC-0D2F1CDB3788}"/>
              </a:ext>
            </a:extLst>
          </p:cNvPr>
          <p:cNvSpPr txBox="1"/>
          <p:nvPr/>
        </p:nvSpPr>
        <p:spPr>
          <a:xfrm>
            <a:off x="656167" y="359833"/>
            <a:ext cx="392641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FYP Presentation 2025/26</a:t>
            </a:r>
          </a:p>
        </p:txBody>
      </p:sp>
      <p:pic>
        <p:nvPicPr>
          <p:cNvPr id="6" name="Picture 5" descr="A green logo with black background&#10;&#10;AI-generated content may be incorrect.">
            <a:extLst>
              <a:ext uri="{FF2B5EF4-FFF2-40B4-BE49-F238E27FC236}">
                <a16:creationId xmlns:a16="http://schemas.microsoft.com/office/drawing/2014/main" id="{76EBA527-851B-1048-C861-766F71A20D30}"/>
              </a:ext>
            </a:extLst>
          </p:cNvPr>
          <p:cNvPicPr>
            <a:picLocks noChangeAspect="1"/>
          </p:cNvPicPr>
          <p:nvPr/>
        </p:nvPicPr>
        <p:blipFill>
          <a:blip r:embed="rId2"/>
          <a:stretch>
            <a:fillRect/>
          </a:stretch>
        </p:blipFill>
        <p:spPr>
          <a:xfrm>
            <a:off x="7760316" y="4775199"/>
            <a:ext cx="3952550" cy="1803351"/>
          </a:xfrm>
          <a:prstGeom prst="rect">
            <a:avLst/>
          </a:prstGeom>
        </p:spPr>
      </p:pic>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838200" y="365125"/>
            <a:ext cx="10515600" cy="1325563"/>
          </a:xfrm>
        </p:spPr>
        <p:txBody>
          <a:bodyPr anchor="ctr">
            <a:normAutofit/>
          </a:bodyPr>
          <a:lstStyle/>
          <a:p>
            <a:r>
              <a:rPr lang="en-US" dirty="0"/>
              <a:t>Contents</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sz="quarter" idx="16"/>
          </p:nvPr>
        </p:nvSpPr>
        <p:spPr>
          <a:xfrm>
            <a:off x="838199" y="2136775"/>
            <a:ext cx="10515599" cy="3697288"/>
          </a:xfrm>
        </p:spPr>
        <p:txBody>
          <a:bodyPr vert="horz" lIns="91440" tIns="45720" rIns="91440" bIns="45720" rtlCol="0">
            <a:normAutofit/>
          </a:bodyPr>
          <a:lstStyle/>
          <a:p>
            <a:pPr marL="285750" indent="-285750">
              <a:buChar char="•"/>
            </a:pPr>
            <a:r>
              <a:rPr lang="en-US" dirty="0"/>
              <a:t>Project Overview </a:t>
            </a:r>
          </a:p>
          <a:p>
            <a:pPr marL="285750" indent="-285750">
              <a:buChar char="•"/>
            </a:pPr>
            <a:r>
              <a:rPr lang="en-US" dirty="0"/>
              <a:t>Objectives</a:t>
            </a:r>
          </a:p>
          <a:p>
            <a:pPr marL="285750" indent="-285750">
              <a:buChar char="•"/>
            </a:pPr>
            <a:r>
              <a:rPr lang="en-US" dirty="0"/>
              <a:t>Motivation</a:t>
            </a:r>
          </a:p>
          <a:p>
            <a:pPr marL="285750" indent="-285750">
              <a:buChar char="•"/>
            </a:pPr>
            <a:r>
              <a:rPr lang="en-US" dirty="0"/>
              <a:t>Progress to Date</a:t>
            </a:r>
          </a:p>
          <a:p>
            <a:pPr marL="285750" indent="-285750">
              <a:buChar char="•"/>
            </a:pPr>
            <a:r>
              <a:rPr lang="en-US" dirty="0"/>
              <a:t>Planned work</a:t>
            </a:r>
          </a:p>
          <a:p>
            <a:pPr marL="285750" indent="-285750">
              <a:buChar char="•"/>
            </a:pPr>
            <a:r>
              <a:rPr lang="en-US" dirty="0"/>
              <a:t>Timeline</a:t>
            </a:r>
          </a:p>
          <a:p>
            <a:pPr marL="285750" indent="-285750">
              <a:buChar char="•"/>
            </a:pPr>
            <a:r>
              <a:rPr lang="en-US" dirty="0"/>
              <a:t>Challenges + Considerations</a:t>
            </a:r>
          </a:p>
          <a:p>
            <a:pPr marL="285750" indent="-285750">
              <a:buChar char="•"/>
            </a:pPr>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885156" y="226638"/>
            <a:ext cx="8421688" cy="1325563"/>
          </a:xfrm>
        </p:spPr>
        <p:txBody>
          <a:bodyPr/>
          <a:lstStyle/>
          <a:p>
            <a:r>
              <a:rPr lang="en-US" dirty="0"/>
              <a:t>Project Overview</a:t>
            </a:r>
          </a:p>
        </p:txBody>
      </p:sp>
      <p:sp>
        <p:nvSpPr>
          <p:cNvPr id="25" name="TextBox 24">
            <a:extLst>
              <a:ext uri="{FF2B5EF4-FFF2-40B4-BE49-F238E27FC236}">
                <a16:creationId xmlns:a16="http://schemas.microsoft.com/office/drawing/2014/main" id="{7BB8C30F-390D-F51E-4A2C-46028EA7B455}"/>
              </a:ext>
            </a:extLst>
          </p:cNvPr>
          <p:cNvSpPr txBox="1"/>
          <p:nvPr/>
        </p:nvSpPr>
        <p:spPr>
          <a:xfrm>
            <a:off x="2004290" y="1367473"/>
            <a:ext cx="8571345" cy="2031325"/>
          </a:xfrm>
          <a:prstGeom prst="rect">
            <a:avLst/>
          </a:prstGeom>
          <a:noFill/>
        </p:spPr>
        <p:txBody>
          <a:bodyPr wrap="square" rtlCol="0">
            <a:spAutoFit/>
          </a:bodyPr>
          <a:lstStyle/>
          <a:p>
            <a:r>
              <a:rPr lang="en-US" dirty="0"/>
              <a:t>EvoGame is a system where game strategies for draughts, a simple turn-based game are evolved using GE. The project will involve defining a grammar that specifies possible moves and tactics and then using grammatical evolution to iteratively improve these strategies. By simulating thousands of games, the evolved strategies can be tested and refined to find the optimal approach. </a:t>
            </a:r>
          </a:p>
          <a:p>
            <a:endParaRPr lang="en-US" dirty="0"/>
          </a:p>
          <a:p>
            <a:r>
              <a:rPr lang="en-US" dirty="0"/>
              <a:t> </a:t>
            </a:r>
            <a:endParaRPr lang="en-IE" dirty="0"/>
          </a:p>
        </p:txBody>
      </p:sp>
      <p:sp>
        <p:nvSpPr>
          <p:cNvPr id="26" name="TextBox 25">
            <a:extLst>
              <a:ext uri="{FF2B5EF4-FFF2-40B4-BE49-F238E27FC236}">
                <a16:creationId xmlns:a16="http://schemas.microsoft.com/office/drawing/2014/main" id="{494F96F6-5717-3067-5E1B-0C3D7E83A753}"/>
              </a:ext>
            </a:extLst>
          </p:cNvPr>
          <p:cNvSpPr txBox="1"/>
          <p:nvPr/>
        </p:nvSpPr>
        <p:spPr>
          <a:xfrm>
            <a:off x="570776" y="3429000"/>
            <a:ext cx="3482109" cy="923330"/>
          </a:xfrm>
          <a:prstGeom prst="rect">
            <a:avLst/>
          </a:prstGeom>
          <a:noFill/>
        </p:spPr>
        <p:txBody>
          <a:bodyPr wrap="square" rtlCol="0">
            <a:spAutoFit/>
          </a:bodyPr>
          <a:lstStyle/>
          <a:p>
            <a:pPr marL="285750" indent="-285750">
              <a:buFont typeface="Arial" panose="020B0604020202020204" pitchFamily="34" charset="0"/>
              <a:buChar char="•"/>
            </a:pPr>
            <a:r>
              <a:rPr lang="en-US" dirty="0"/>
              <a:t>Using the GRAPE engine developed here in UL which implements GE in DEAP</a:t>
            </a:r>
            <a:endParaRPr lang="en-IE" dirty="0"/>
          </a:p>
        </p:txBody>
      </p:sp>
      <p:sp>
        <p:nvSpPr>
          <p:cNvPr id="27" name="TextBox 26">
            <a:extLst>
              <a:ext uri="{FF2B5EF4-FFF2-40B4-BE49-F238E27FC236}">
                <a16:creationId xmlns:a16="http://schemas.microsoft.com/office/drawing/2014/main" id="{106C459C-795E-F54B-3E03-1CC4F5B831EF}"/>
              </a:ext>
            </a:extLst>
          </p:cNvPr>
          <p:cNvSpPr txBox="1"/>
          <p:nvPr/>
        </p:nvSpPr>
        <p:spPr>
          <a:xfrm>
            <a:off x="4247788" y="3398798"/>
            <a:ext cx="3695485" cy="1477328"/>
          </a:xfrm>
          <a:prstGeom prst="rect">
            <a:avLst/>
          </a:prstGeom>
          <a:noFill/>
        </p:spPr>
        <p:txBody>
          <a:bodyPr wrap="square" rtlCol="0">
            <a:spAutoFit/>
          </a:bodyPr>
          <a:lstStyle/>
          <a:p>
            <a:pPr marL="285750" indent="-285750">
              <a:buFont typeface="Arial" panose="020B0604020202020204" pitchFamily="34" charset="0"/>
              <a:buChar char="•"/>
            </a:pPr>
            <a:r>
              <a:rPr lang="en-US" dirty="0"/>
              <a:t>Several phases of game complexity scaled up as the project progresses. Starting with a smaller board and less complex rule set</a:t>
            </a:r>
            <a:endParaRPr lang="en-IE" dirty="0"/>
          </a:p>
        </p:txBody>
      </p:sp>
      <p:sp>
        <p:nvSpPr>
          <p:cNvPr id="28" name="TextBox 27">
            <a:extLst>
              <a:ext uri="{FF2B5EF4-FFF2-40B4-BE49-F238E27FC236}">
                <a16:creationId xmlns:a16="http://schemas.microsoft.com/office/drawing/2014/main" id="{358ABB76-D4EF-C1F3-7C75-C69CF7847010}"/>
              </a:ext>
            </a:extLst>
          </p:cNvPr>
          <p:cNvSpPr txBox="1"/>
          <p:nvPr/>
        </p:nvSpPr>
        <p:spPr>
          <a:xfrm>
            <a:off x="8163067" y="3429000"/>
            <a:ext cx="3620655" cy="646331"/>
          </a:xfrm>
          <a:prstGeom prst="rect">
            <a:avLst/>
          </a:prstGeom>
          <a:noFill/>
        </p:spPr>
        <p:txBody>
          <a:bodyPr wrap="square" rtlCol="0">
            <a:spAutoFit/>
          </a:bodyPr>
          <a:lstStyle/>
          <a:p>
            <a:pPr marL="285750" indent="-285750">
              <a:buFont typeface="Arial" panose="020B0604020202020204" pitchFamily="34" charset="0"/>
              <a:buChar char="•"/>
            </a:pPr>
            <a:r>
              <a:rPr lang="en-US" dirty="0"/>
              <a:t>Human prototype testing gauging real world success</a:t>
            </a:r>
            <a:endParaRPr lang="en-IE" dirty="0"/>
          </a:p>
        </p:txBody>
      </p:sp>
    </p:spTree>
    <p:extLst>
      <p:ext uri="{BB962C8B-B14F-4D97-AF65-F5344CB8AC3E}">
        <p14:creationId xmlns:p14="http://schemas.microsoft.com/office/powerpoint/2010/main" val="159392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E1C88-627C-4655-A4FB-0BB02EDB078A}"/>
              </a:ext>
            </a:extLst>
          </p:cNvPr>
          <p:cNvSpPr>
            <a:spLocks noGrp="1"/>
          </p:cNvSpPr>
          <p:nvPr>
            <p:ph type="title"/>
          </p:nvPr>
        </p:nvSpPr>
        <p:spPr>
          <a:xfrm>
            <a:off x="838200" y="365125"/>
            <a:ext cx="10515600" cy="1325563"/>
          </a:xfrm>
        </p:spPr>
        <p:txBody>
          <a:bodyPr anchor="ctr">
            <a:normAutofit/>
          </a:bodyPr>
          <a:lstStyle/>
          <a:p>
            <a:r>
              <a:rPr lang="en-US" dirty="0"/>
              <a:t>Objectives</a:t>
            </a:r>
          </a:p>
        </p:txBody>
      </p:sp>
      <p:sp>
        <p:nvSpPr>
          <p:cNvPr id="3" name="Content Placeholder 2">
            <a:extLst>
              <a:ext uri="{FF2B5EF4-FFF2-40B4-BE49-F238E27FC236}">
                <a16:creationId xmlns:a16="http://schemas.microsoft.com/office/drawing/2014/main" id="{033634FE-ADF0-4BC3-A0A9-447EA9DD096B}"/>
              </a:ext>
            </a:extLst>
          </p:cNvPr>
          <p:cNvSpPr>
            <a:spLocks noGrp="1"/>
          </p:cNvSpPr>
          <p:nvPr>
            <p:ph sz="quarter" idx="16"/>
          </p:nvPr>
        </p:nvSpPr>
        <p:spPr>
          <a:xfrm>
            <a:off x="4126228" y="2136775"/>
            <a:ext cx="7227569" cy="3697288"/>
          </a:xfrm>
        </p:spPr>
        <p:txBody>
          <a:bodyPr vert="horz" lIns="91440" tIns="45720" rIns="91440" bIns="45720" rtlCol="0">
            <a:normAutofit/>
          </a:bodyPr>
          <a:lstStyle/>
          <a:p>
            <a:pPr marL="342900" indent="-342900">
              <a:buAutoNum type="arabicPeriod"/>
            </a:pPr>
            <a:r>
              <a:rPr lang="en-US" sz="2000" dirty="0"/>
              <a:t>Develop a system that evolves strategies for draughts using grammatical evolution</a:t>
            </a:r>
          </a:p>
          <a:p>
            <a:pPr marL="342900" indent="-342900">
              <a:buAutoNum type="arabicPeriod"/>
            </a:pPr>
            <a:r>
              <a:rPr lang="en-US" sz="2000" noProof="1"/>
              <a:t>Implement and optimize a grammar that defines possible game strategies</a:t>
            </a:r>
          </a:p>
          <a:p>
            <a:pPr marL="342900" indent="-342900">
              <a:buAutoNum type="arabicPeriod"/>
            </a:pPr>
            <a:r>
              <a:rPr lang="en-US" sz="2000" noProof="1"/>
              <a:t>Analyse and visualize the evolution of strategies over multiple generations</a:t>
            </a:r>
          </a:p>
          <a:p>
            <a:pPr marL="342900" indent="-342900">
              <a:buAutoNum type="arabicPeriod"/>
            </a:pPr>
            <a:r>
              <a:rPr lang="en-US" sz="2000" noProof="1"/>
              <a:t>Iterate these objectives over multiple phases of scaling game complexity</a:t>
            </a:r>
          </a:p>
          <a:p>
            <a:pPr marL="342900" indent="-342900">
              <a:buAutoNum type="arabicPeriod"/>
            </a:pPr>
            <a:r>
              <a:rPr lang="en-US" sz="2000" noProof="1"/>
              <a:t>Measure the success of the developed strategies for each phase and for the final phase use human competitors to gauge the real-world success</a:t>
            </a:r>
          </a:p>
          <a:p>
            <a:pPr marL="342900" indent="-342900">
              <a:buAutoNum type="arabicPeriod"/>
            </a:pPr>
            <a:endParaRPr lang="en-US" sz="2000" noProof="1"/>
          </a:p>
        </p:txBody>
      </p:sp>
      <p:pic>
        <p:nvPicPr>
          <p:cNvPr id="8" name="Picture 7" descr="A game board with checkers&#10;&#10;AI-generated content may be incorrect.">
            <a:extLst>
              <a:ext uri="{FF2B5EF4-FFF2-40B4-BE49-F238E27FC236}">
                <a16:creationId xmlns:a16="http://schemas.microsoft.com/office/drawing/2014/main" id="{2633ED3B-FA23-CA52-5F35-FDA012758DF0}"/>
              </a:ext>
            </a:extLst>
          </p:cNvPr>
          <p:cNvPicPr>
            <a:picLocks noChangeAspect="1"/>
          </p:cNvPicPr>
          <p:nvPr/>
        </p:nvPicPr>
        <p:blipFill>
          <a:blip r:embed="rId2"/>
          <a:srcRect l="1243" r="14977" b="-2"/>
          <a:stretch>
            <a:fillRect/>
          </a:stretch>
        </p:blipFill>
        <p:spPr>
          <a:xfrm>
            <a:off x="838199" y="2136775"/>
            <a:ext cx="3097529" cy="3697288"/>
          </a:xfrm>
          <a:prstGeom prst="rect">
            <a:avLst/>
          </a:prstGeom>
          <a:noFill/>
        </p:spPr>
      </p:pic>
    </p:spTree>
    <p:extLst>
      <p:ext uri="{BB962C8B-B14F-4D97-AF65-F5344CB8AC3E}">
        <p14:creationId xmlns:p14="http://schemas.microsoft.com/office/powerpoint/2010/main" val="1346372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526615"/>
            <a:ext cx="8421688" cy="1325563"/>
          </a:xfrm>
        </p:spPr>
        <p:txBody>
          <a:bodyPr/>
          <a:lstStyle/>
          <a:p>
            <a:r>
              <a:rPr lang="en-US" dirty="0"/>
              <a:t>Motivation</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2302163" y="1635342"/>
            <a:ext cx="2814015" cy="823912"/>
          </a:xfrm>
        </p:spPr>
        <p:txBody>
          <a:bodyPr/>
          <a:lstStyle/>
          <a:p>
            <a:r>
              <a:rPr lang="en-US" dirty="0"/>
              <a:t>Project</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2209799" y="2634673"/>
            <a:ext cx="4227945" cy="3221182"/>
          </a:xfrm>
        </p:spPr>
        <p:txBody>
          <a:bodyPr vert="horz" lIns="91440" tIns="45720" rIns="91440" bIns="45720" rtlCol="0" anchor="t">
            <a:normAutofit fontScale="92500"/>
          </a:bodyPr>
          <a:lstStyle/>
          <a:p>
            <a:r>
              <a:rPr lang="en-US" noProof="1"/>
              <a:t>Traditional game AI relies on hand-coded logic that is predictable</a:t>
            </a:r>
          </a:p>
          <a:p>
            <a:r>
              <a:rPr lang="en-US" noProof="1"/>
              <a:t>GE can evolve adaptive solutions, this project will explore the benefit of that and measure its real-world performance</a:t>
            </a:r>
          </a:p>
          <a:p>
            <a:r>
              <a:rPr lang="en-US" noProof="1"/>
              <a:t>This is a worthy research area as it's not been explored nearly as much traditional AI solutions using minmax etc.</a:t>
            </a:r>
          </a:p>
          <a:p>
            <a:r>
              <a:rPr lang="en-US" noProof="1"/>
              <a:t>I chose Draughts because of its turn-based nature, clear rules and easily scalable complexity, this makes it an ideal choice for a phased GE project</a:t>
            </a:r>
          </a:p>
          <a:p>
            <a:r>
              <a:rPr lang="en-US" noProof="1"/>
              <a:t>I chose GRAPE as it is more user friendly and better suited for this project than the alternative</a:t>
            </a:r>
          </a:p>
          <a:p>
            <a:endParaRPr lang="en-US" noProof="1"/>
          </a:p>
          <a:p>
            <a:endParaRPr lang="en-US" noProof="1"/>
          </a:p>
          <a:p>
            <a:endParaRPr lang="en-US" noProof="1"/>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7007361" y="1635342"/>
            <a:ext cx="2882475" cy="823912"/>
          </a:xfrm>
        </p:spPr>
        <p:txBody>
          <a:bodyPr vert="horz" lIns="91440" tIns="45720" rIns="91440" bIns="45720" rtlCol="0" anchor="b">
            <a:normAutofit/>
          </a:bodyPr>
          <a:lstStyle/>
          <a:p>
            <a:r>
              <a:rPr lang="en-US" dirty="0"/>
              <a:t>Personal</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7007361" y="2634673"/>
            <a:ext cx="3974675" cy="2371150"/>
          </a:xfrm>
        </p:spPr>
        <p:txBody>
          <a:bodyPr>
            <a:normAutofit/>
          </a:bodyPr>
          <a:lstStyle/>
          <a:p>
            <a:r>
              <a:rPr lang="en-US" sz="1300" noProof="1"/>
              <a:t>I’ve applied for an MSc in Artificial Intelligence and Machine Learning for next year and am interested in working with machine learning in the future</a:t>
            </a:r>
          </a:p>
          <a:p>
            <a:r>
              <a:rPr lang="en-US" sz="1300" noProof="1"/>
              <a:t>As such I wanted to make sure my FYP had some relation to this to give me more experience going into next year</a:t>
            </a:r>
          </a:p>
          <a:p>
            <a:r>
              <a:rPr lang="en-US" sz="1300" noProof="1"/>
              <a:t>GRAPE and Grammatical Evolution itself were developed in UL and working with them is an exciting prospect to me </a:t>
            </a:r>
          </a:p>
          <a:p>
            <a:endParaRPr lang="en-US" sz="1300" dirty="0"/>
          </a:p>
          <a:p>
            <a:endParaRPr lang="en-US" sz="1300" dirty="0"/>
          </a:p>
        </p:txBody>
      </p:sp>
    </p:spTree>
    <p:extLst>
      <p:ext uri="{BB962C8B-B14F-4D97-AF65-F5344CB8AC3E}">
        <p14:creationId xmlns:p14="http://schemas.microsoft.com/office/powerpoint/2010/main" val="2121178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D7E26-8B85-3141-E48C-043227F8A0B2}"/>
              </a:ext>
            </a:extLst>
          </p:cNvPr>
          <p:cNvSpPr>
            <a:spLocks noGrp="1"/>
          </p:cNvSpPr>
          <p:nvPr>
            <p:ph type="title"/>
          </p:nvPr>
        </p:nvSpPr>
        <p:spPr>
          <a:xfrm>
            <a:off x="1274277" y="175604"/>
            <a:ext cx="9920195" cy="846301"/>
          </a:xfrm>
        </p:spPr>
        <p:txBody>
          <a:bodyPr>
            <a:normAutofit/>
          </a:bodyPr>
          <a:lstStyle/>
          <a:p>
            <a:r>
              <a:rPr lang="en-IE" dirty="0"/>
              <a:t>Existing Draughts Bots – WHY GE is still worth it </a:t>
            </a:r>
          </a:p>
        </p:txBody>
      </p:sp>
      <p:sp>
        <p:nvSpPr>
          <p:cNvPr id="3" name="Text Placeholder 2">
            <a:extLst>
              <a:ext uri="{FF2B5EF4-FFF2-40B4-BE49-F238E27FC236}">
                <a16:creationId xmlns:a16="http://schemas.microsoft.com/office/drawing/2014/main" id="{F79DEDCF-F2C6-8A9D-3F14-0157816B26A8}"/>
              </a:ext>
            </a:extLst>
          </p:cNvPr>
          <p:cNvSpPr>
            <a:spLocks noGrp="1"/>
          </p:cNvSpPr>
          <p:nvPr>
            <p:ph type="body" sz="quarter" idx="13"/>
          </p:nvPr>
        </p:nvSpPr>
        <p:spPr>
          <a:xfrm>
            <a:off x="215415" y="855143"/>
            <a:ext cx="5433204" cy="365125"/>
          </a:xfrm>
        </p:spPr>
        <p:txBody>
          <a:bodyPr>
            <a:normAutofit lnSpcReduction="10000"/>
          </a:bodyPr>
          <a:lstStyle/>
          <a:p>
            <a:r>
              <a:rPr lang="en-IE" dirty="0"/>
              <a:t>Draughts is solved</a:t>
            </a:r>
          </a:p>
        </p:txBody>
      </p:sp>
      <p:sp>
        <p:nvSpPr>
          <p:cNvPr id="4" name="Text Placeholder 3">
            <a:extLst>
              <a:ext uri="{FF2B5EF4-FFF2-40B4-BE49-F238E27FC236}">
                <a16:creationId xmlns:a16="http://schemas.microsoft.com/office/drawing/2014/main" id="{FF9FFA40-5C7B-8E2C-EC8A-E107C4C2C246}"/>
              </a:ext>
            </a:extLst>
          </p:cNvPr>
          <p:cNvSpPr>
            <a:spLocks noGrp="1"/>
          </p:cNvSpPr>
          <p:nvPr>
            <p:ph type="body" sz="quarter" idx="15"/>
          </p:nvPr>
        </p:nvSpPr>
        <p:spPr>
          <a:xfrm>
            <a:off x="215415" y="1143506"/>
            <a:ext cx="7266040" cy="941787"/>
          </a:xfrm>
        </p:spPr>
        <p:txBody>
          <a:bodyPr>
            <a:normAutofit/>
          </a:bodyPr>
          <a:lstStyle/>
          <a:p>
            <a:r>
              <a:rPr lang="en-IE" dirty="0"/>
              <a:t>Chinook – University of Alberta</a:t>
            </a:r>
            <a:br>
              <a:rPr lang="en-IE" dirty="0"/>
            </a:br>
            <a:r>
              <a:rPr lang="en-IE" dirty="0"/>
              <a:t>When this program plays two perfect solutions against each other it will always be a draw</a:t>
            </a:r>
          </a:p>
          <a:p>
            <a:r>
              <a:rPr lang="en-IE" dirty="0"/>
              <a:t>Uses brute force search + endgame databases</a:t>
            </a:r>
          </a:p>
          <a:p>
            <a:endParaRPr lang="en-IE" dirty="0"/>
          </a:p>
        </p:txBody>
      </p:sp>
      <p:sp>
        <p:nvSpPr>
          <p:cNvPr id="5" name="Text Placeholder 4">
            <a:extLst>
              <a:ext uri="{FF2B5EF4-FFF2-40B4-BE49-F238E27FC236}">
                <a16:creationId xmlns:a16="http://schemas.microsoft.com/office/drawing/2014/main" id="{64614EF5-AB9E-E09F-CDB9-7693AC2F24BD}"/>
              </a:ext>
            </a:extLst>
          </p:cNvPr>
          <p:cNvSpPr>
            <a:spLocks noGrp="1"/>
          </p:cNvSpPr>
          <p:nvPr>
            <p:ph type="body" sz="quarter" idx="23"/>
          </p:nvPr>
        </p:nvSpPr>
        <p:spPr>
          <a:xfrm>
            <a:off x="1812072" y="2148880"/>
            <a:ext cx="5433204" cy="365125"/>
          </a:xfrm>
        </p:spPr>
        <p:txBody>
          <a:bodyPr>
            <a:normAutofit lnSpcReduction="10000"/>
          </a:bodyPr>
          <a:lstStyle/>
          <a:p>
            <a:r>
              <a:rPr lang="en-IE" dirty="0"/>
              <a:t>Then why bother using GE?</a:t>
            </a:r>
          </a:p>
        </p:txBody>
      </p:sp>
      <p:sp>
        <p:nvSpPr>
          <p:cNvPr id="6" name="Text Placeholder 5">
            <a:extLst>
              <a:ext uri="{FF2B5EF4-FFF2-40B4-BE49-F238E27FC236}">
                <a16:creationId xmlns:a16="http://schemas.microsoft.com/office/drawing/2014/main" id="{638C9133-A7C8-E4FD-2860-3F853931A76B}"/>
              </a:ext>
            </a:extLst>
          </p:cNvPr>
          <p:cNvSpPr>
            <a:spLocks noGrp="1"/>
          </p:cNvSpPr>
          <p:nvPr>
            <p:ph type="body" sz="quarter" idx="24"/>
          </p:nvPr>
        </p:nvSpPr>
        <p:spPr>
          <a:xfrm>
            <a:off x="1869372" y="2514005"/>
            <a:ext cx="11089246" cy="846300"/>
          </a:xfrm>
        </p:spPr>
        <p:txBody>
          <a:bodyPr>
            <a:normAutofit fontScale="92500" lnSpcReduction="20000"/>
          </a:bodyPr>
          <a:lstStyle/>
          <a:p>
            <a:pPr marL="285750" indent="-285750">
              <a:buFont typeface="Arial" panose="020B0604020202020204" pitchFamily="34" charset="0"/>
              <a:buChar char="•"/>
            </a:pPr>
            <a:r>
              <a:rPr lang="en-IE" dirty="0"/>
              <a:t>Chinook has actually still been beaten by humans using different sneaky techniques, adaptive solutions from GE would learn to fight these </a:t>
            </a:r>
          </a:p>
          <a:p>
            <a:pPr marL="285750" indent="-285750">
              <a:buFont typeface="Arial" panose="020B0604020202020204" pitchFamily="34" charset="0"/>
              <a:buChar char="•"/>
            </a:pPr>
            <a:r>
              <a:rPr lang="en-IE" dirty="0"/>
              <a:t>GE could prove better at playing timed modes for real world play</a:t>
            </a:r>
          </a:p>
          <a:p>
            <a:pPr marL="285750" indent="-285750">
              <a:buFont typeface="Arial" panose="020B0604020202020204" pitchFamily="34" charset="0"/>
              <a:buChar char="•"/>
            </a:pPr>
            <a:r>
              <a:rPr lang="en-IE" dirty="0"/>
              <a:t>GE could provide solutions much quicker, without a need for as much expert knowledge or computational power</a:t>
            </a:r>
          </a:p>
        </p:txBody>
      </p:sp>
      <p:sp>
        <p:nvSpPr>
          <p:cNvPr id="7" name="Text Placeholder 6">
            <a:extLst>
              <a:ext uri="{FF2B5EF4-FFF2-40B4-BE49-F238E27FC236}">
                <a16:creationId xmlns:a16="http://schemas.microsoft.com/office/drawing/2014/main" id="{37448D4A-1D1C-3D0B-6714-901E7F50ACFA}"/>
              </a:ext>
            </a:extLst>
          </p:cNvPr>
          <p:cNvSpPr>
            <a:spLocks noGrp="1"/>
          </p:cNvSpPr>
          <p:nvPr>
            <p:ph type="body" sz="quarter" idx="25"/>
          </p:nvPr>
        </p:nvSpPr>
        <p:spPr>
          <a:xfrm>
            <a:off x="3433618" y="3640980"/>
            <a:ext cx="8846127" cy="365125"/>
          </a:xfrm>
        </p:spPr>
        <p:txBody>
          <a:bodyPr>
            <a:normAutofit lnSpcReduction="10000"/>
          </a:bodyPr>
          <a:lstStyle/>
          <a:p>
            <a:r>
              <a:rPr lang="en-IE" dirty="0"/>
              <a:t>Most popular methods behind current Draughts Bots</a:t>
            </a:r>
          </a:p>
        </p:txBody>
      </p:sp>
      <p:sp>
        <p:nvSpPr>
          <p:cNvPr id="8" name="Text Placeholder 7">
            <a:extLst>
              <a:ext uri="{FF2B5EF4-FFF2-40B4-BE49-F238E27FC236}">
                <a16:creationId xmlns:a16="http://schemas.microsoft.com/office/drawing/2014/main" id="{717F9A2E-A14F-7B13-4544-F642C0953A2C}"/>
              </a:ext>
            </a:extLst>
          </p:cNvPr>
          <p:cNvSpPr>
            <a:spLocks noGrp="1"/>
          </p:cNvSpPr>
          <p:nvPr>
            <p:ph type="body" sz="quarter" idx="26"/>
          </p:nvPr>
        </p:nvSpPr>
        <p:spPr>
          <a:xfrm>
            <a:off x="3658919" y="4090555"/>
            <a:ext cx="8394536" cy="1460500"/>
          </a:xfrm>
        </p:spPr>
        <p:txBody>
          <a:bodyPr/>
          <a:lstStyle/>
          <a:p>
            <a:pPr marL="285750" indent="-285750">
              <a:buFont typeface="Arial" panose="020B0604020202020204" pitchFamily="34" charset="0"/>
              <a:buChar char="•"/>
            </a:pPr>
            <a:r>
              <a:rPr lang="en-IE" dirty="0"/>
              <a:t>Traditional AI(minmax) – only becomes nearly unbeatable at high search depth</a:t>
            </a:r>
          </a:p>
          <a:p>
            <a:pPr marL="285750" indent="-285750">
              <a:buFont typeface="Arial" panose="020B0604020202020204" pitchFamily="34" charset="0"/>
              <a:buChar char="•"/>
            </a:pPr>
            <a:r>
              <a:rPr lang="en-IE" dirty="0"/>
              <a:t>Online games mostly use shallow minmax with some heuristics but can be beaten by experienced players (247Checkers, PlayOK, AI Factory)</a:t>
            </a:r>
          </a:p>
          <a:p>
            <a:endParaRPr lang="en-IE" dirty="0"/>
          </a:p>
        </p:txBody>
      </p:sp>
    </p:spTree>
    <p:extLst>
      <p:ext uri="{BB962C8B-B14F-4D97-AF65-F5344CB8AC3E}">
        <p14:creationId xmlns:p14="http://schemas.microsoft.com/office/powerpoint/2010/main" val="1192687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433296" y="4838314"/>
            <a:ext cx="3870850" cy="1159487"/>
          </a:xfrm>
        </p:spPr>
        <p:txBody>
          <a:bodyPr>
            <a:normAutofit/>
          </a:bodyPr>
          <a:lstStyle/>
          <a:p>
            <a:r>
              <a:rPr lang="en-US" dirty="0"/>
              <a:t>Progress to Date</a:t>
            </a:r>
          </a:p>
        </p:txBody>
      </p:sp>
      <p:sp>
        <p:nvSpPr>
          <p:cNvPr id="3" name="Content Placeholder 2">
            <a:extLst>
              <a:ext uri="{FF2B5EF4-FFF2-40B4-BE49-F238E27FC236}">
                <a16:creationId xmlns:a16="http://schemas.microsoft.com/office/drawing/2014/main" id="{D4A2EB3F-4D60-451F-8F45-7D6654D2FCD9}"/>
              </a:ext>
            </a:extLst>
          </p:cNvPr>
          <p:cNvSpPr>
            <a:spLocks noGrp="1"/>
          </p:cNvSpPr>
          <p:nvPr>
            <p:ph type="body" sz="quarter" idx="13"/>
          </p:nvPr>
        </p:nvSpPr>
        <p:spPr>
          <a:xfrm>
            <a:off x="5902950" y="300821"/>
            <a:ext cx="5433204" cy="365125"/>
          </a:xfrm>
        </p:spPr>
        <p:txBody>
          <a:bodyPr vert="horz" lIns="91440" tIns="45720" rIns="91440" bIns="45720" rtlCol="0" anchor="t">
            <a:normAutofit lnSpcReduction="10000"/>
          </a:bodyPr>
          <a:lstStyle/>
          <a:p>
            <a:r>
              <a:rPr lang="en-US" dirty="0"/>
              <a:t>Background Research</a:t>
            </a:r>
          </a:p>
        </p:txBody>
      </p:sp>
      <p:sp>
        <p:nvSpPr>
          <p:cNvPr id="4" name="Text Placeholder 3">
            <a:extLst>
              <a:ext uri="{FF2B5EF4-FFF2-40B4-BE49-F238E27FC236}">
                <a16:creationId xmlns:a16="http://schemas.microsoft.com/office/drawing/2014/main" id="{AC1C80FB-53F9-42EE-B1E6-D0F998EC5DFA}"/>
              </a:ext>
            </a:extLst>
          </p:cNvPr>
          <p:cNvSpPr>
            <a:spLocks noGrp="1"/>
          </p:cNvSpPr>
          <p:nvPr>
            <p:ph type="body" sz="quarter" idx="15"/>
          </p:nvPr>
        </p:nvSpPr>
        <p:spPr>
          <a:xfrm>
            <a:off x="5880264" y="648379"/>
            <a:ext cx="6025409" cy="1559117"/>
          </a:xfrm>
        </p:spPr>
        <p:txBody>
          <a:bodyPr>
            <a:normAutofit lnSpcReduction="10000"/>
          </a:bodyPr>
          <a:lstStyle/>
          <a:p>
            <a:r>
              <a:rPr lang="en-US" dirty="0"/>
              <a:t>I have been following along with relevant sections of CS6271 which covers a lot of the basics of grammatical evolution and other evolutionary computation concepts</a:t>
            </a:r>
          </a:p>
          <a:p>
            <a:r>
              <a:rPr lang="en-US" dirty="0"/>
              <a:t>I have been researching the theory behind GE along with various research projects that implement GE as well as other evolutionary approaches</a:t>
            </a:r>
          </a:p>
          <a:p>
            <a:r>
              <a:rPr lang="en-US" dirty="0"/>
              <a:t>I have investigated existing draughts bots and the processes behind them</a:t>
            </a:r>
          </a:p>
          <a:p>
            <a:endParaRPr lang="en-US" dirty="0"/>
          </a:p>
        </p:txBody>
      </p:sp>
      <p:sp>
        <p:nvSpPr>
          <p:cNvPr id="5" name="Text Placeholder 4">
            <a:extLst>
              <a:ext uri="{FF2B5EF4-FFF2-40B4-BE49-F238E27FC236}">
                <a16:creationId xmlns:a16="http://schemas.microsoft.com/office/drawing/2014/main" id="{E81BA2B5-6A90-4204-ABDD-7183FBB03A02}"/>
              </a:ext>
            </a:extLst>
          </p:cNvPr>
          <p:cNvSpPr>
            <a:spLocks noGrp="1"/>
          </p:cNvSpPr>
          <p:nvPr>
            <p:ph type="body" sz="quarter" idx="23"/>
          </p:nvPr>
        </p:nvSpPr>
        <p:spPr>
          <a:xfrm>
            <a:off x="5880262" y="2271413"/>
            <a:ext cx="6154719" cy="365125"/>
          </a:xfrm>
        </p:spPr>
        <p:txBody>
          <a:bodyPr>
            <a:normAutofit fontScale="92500"/>
          </a:bodyPr>
          <a:lstStyle/>
          <a:p>
            <a:r>
              <a:rPr lang="en-US" dirty="0"/>
              <a:t>Creating a simplified python version of Draughts</a:t>
            </a:r>
          </a:p>
        </p:txBody>
      </p:sp>
      <p:sp>
        <p:nvSpPr>
          <p:cNvPr id="6" name="Text Placeholder 5">
            <a:extLst>
              <a:ext uri="{FF2B5EF4-FFF2-40B4-BE49-F238E27FC236}">
                <a16:creationId xmlns:a16="http://schemas.microsoft.com/office/drawing/2014/main" id="{7E7D4C34-22A0-4D54-A07D-E1E9A11463E5}"/>
              </a:ext>
            </a:extLst>
          </p:cNvPr>
          <p:cNvSpPr>
            <a:spLocks noGrp="1"/>
          </p:cNvSpPr>
          <p:nvPr>
            <p:ph type="body" sz="quarter" idx="24"/>
          </p:nvPr>
        </p:nvSpPr>
        <p:spPr>
          <a:xfrm>
            <a:off x="5880263" y="2597877"/>
            <a:ext cx="5431971" cy="557950"/>
          </a:xfrm>
        </p:spPr>
        <p:txBody>
          <a:bodyPr>
            <a:normAutofit/>
          </a:bodyPr>
          <a:lstStyle/>
          <a:p>
            <a:r>
              <a:rPr lang="en-US" dirty="0"/>
              <a:t>I have created a python version of draughts with a simplified rule set and a smaller board</a:t>
            </a:r>
          </a:p>
        </p:txBody>
      </p:sp>
      <p:sp>
        <p:nvSpPr>
          <p:cNvPr id="7" name="Text Placeholder 6">
            <a:extLst>
              <a:ext uri="{FF2B5EF4-FFF2-40B4-BE49-F238E27FC236}">
                <a16:creationId xmlns:a16="http://schemas.microsoft.com/office/drawing/2014/main" id="{301D392D-FB66-47A0-B628-5ADE822A2CFF}"/>
              </a:ext>
            </a:extLst>
          </p:cNvPr>
          <p:cNvSpPr>
            <a:spLocks noGrp="1"/>
          </p:cNvSpPr>
          <p:nvPr>
            <p:ph type="body" sz="quarter" idx="25"/>
          </p:nvPr>
        </p:nvSpPr>
        <p:spPr>
          <a:xfrm>
            <a:off x="5881499" y="3266111"/>
            <a:ext cx="5433204" cy="365125"/>
          </a:xfrm>
        </p:spPr>
        <p:txBody>
          <a:bodyPr>
            <a:normAutofit lnSpcReduction="10000"/>
          </a:bodyPr>
          <a:lstStyle/>
          <a:p>
            <a:r>
              <a:rPr lang="en-US" dirty="0"/>
              <a:t>Designing the Phase 1 Grammar</a:t>
            </a:r>
          </a:p>
        </p:txBody>
      </p:sp>
      <p:sp>
        <p:nvSpPr>
          <p:cNvPr id="8" name="Text Placeholder 7">
            <a:extLst>
              <a:ext uri="{FF2B5EF4-FFF2-40B4-BE49-F238E27FC236}">
                <a16:creationId xmlns:a16="http://schemas.microsoft.com/office/drawing/2014/main" id="{51C26CE0-2506-4B44-A26F-C12BFA5B18B5}"/>
              </a:ext>
            </a:extLst>
          </p:cNvPr>
          <p:cNvSpPr>
            <a:spLocks noGrp="1"/>
          </p:cNvSpPr>
          <p:nvPr>
            <p:ph type="body" sz="quarter" idx="26"/>
          </p:nvPr>
        </p:nvSpPr>
        <p:spPr>
          <a:xfrm>
            <a:off x="5881499" y="3632581"/>
            <a:ext cx="5431971" cy="557950"/>
          </a:xfrm>
        </p:spPr>
        <p:txBody>
          <a:bodyPr>
            <a:normAutofit/>
          </a:bodyPr>
          <a:lstStyle/>
          <a:p>
            <a:r>
              <a:rPr lang="en-US" dirty="0"/>
              <a:t>The first version of the Grammar that I will use has been designed, this is proving to be one of the more complex aspects of the project</a:t>
            </a:r>
          </a:p>
        </p:txBody>
      </p:sp>
      <p:sp>
        <p:nvSpPr>
          <p:cNvPr id="9" name="Text Placeholder 8">
            <a:extLst>
              <a:ext uri="{FF2B5EF4-FFF2-40B4-BE49-F238E27FC236}">
                <a16:creationId xmlns:a16="http://schemas.microsoft.com/office/drawing/2014/main" id="{868F40F8-BF35-45E9-B3DD-5436362D746E}"/>
              </a:ext>
            </a:extLst>
          </p:cNvPr>
          <p:cNvSpPr>
            <a:spLocks noGrp="1"/>
          </p:cNvSpPr>
          <p:nvPr>
            <p:ph type="body" sz="quarter" idx="27"/>
          </p:nvPr>
        </p:nvSpPr>
        <p:spPr>
          <a:xfrm>
            <a:off x="5881499" y="4286943"/>
            <a:ext cx="5433204" cy="365125"/>
          </a:xfrm>
        </p:spPr>
        <p:txBody>
          <a:bodyPr>
            <a:normAutofit lnSpcReduction="10000"/>
          </a:bodyPr>
          <a:lstStyle/>
          <a:p>
            <a:r>
              <a:rPr lang="en-US" dirty="0"/>
              <a:t>Phase 1 Development</a:t>
            </a:r>
          </a:p>
        </p:txBody>
      </p:sp>
      <p:sp>
        <p:nvSpPr>
          <p:cNvPr id="10" name="Text Placeholder 9">
            <a:extLst>
              <a:ext uri="{FF2B5EF4-FFF2-40B4-BE49-F238E27FC236}">
                <a16:creationId xmlns:a16="http://schemas.microsoft.com/office/drawing/2014/main" id="{7F39C97C-2DDC-4706-B96C-B02FAE53A426}"/>
              </a:ext>
            </a:extLst>
          </p:cNvPr>
          <p:cNvSpPr>
            <a:spLocks noGrp="1"/>
          </p:cNvSpPr>
          <p:nvPr>
            <p:ph type="body" sz="quarter" idx="28"/>
          </p:nvPr>
        </p:nvSpPr>
        <p:spPr>
          <a:xfrm>
            <a:off x="5880265" y="4608993"/>
            <a:ext cx="5431971" cy="557950"/>
          </a:xfrm>
        </p:spPr>
        <p:txBody>
          <a:bodyPr/>
          <a:lstStyle/>
          <a:p>
            <a:r>
              <a:rPr lang="en-US" dirty="0"/>
              <a:t>I have started work on developing the integration of GRAPE with the simplified version of draughts and the defined Grammar</a:t>
            </a:r>
          </a:p>
        </p:txBody>
      </p:sp>
      <p:sp>
        <p:nvSpPr>
          <p:cNvPr id="11" name="Text Placeholder 8">
            <a:extLst>
              <a:ext uri="{FF2B5EF4-FFF2-40B4-BE49-F238E27FC236}">
                <a16:creationId xmlns:a16="http://schemas.microsoft.com/office/drawing/2014/main" id="{48B188F6-AF33-628B-A461-F551E8FA63B3}"/>
              </a:ext>
            </a:extLst>
          </p:cNvPr>
          <p:cNvSpPr txBox="1">
            <a:spLocks/>
          </p:cNvSpPr>
          <p:nvPr/>
        </p:nvSpPr>
        <p:spPr>
          <a:xfrm>
            <a:off x="5880265" y="5235496"/>
            <a:ext cx="5433204" cy="365125"/>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pc="150" baseline="0" dirty="0">
                <a:solidFill>
                  <a:schemeClr val="tx1">
                    <a:lumMod val="75000"/>
                    <a:lumOff val="25000"/>
                  </a:schemeClr>
                </a:solidFill>
                <a:latin typeface="+mj-lt"/>
                <a:ea typeface="+mj-ea"/>
                <a:cs typeface="+mj-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E" dirty="0"/>
              <a:t>Ethics Application</a:t>
            </a:r>
          </a:p>
        </p:txBody>
      </p:sp>
      <p:sp>
        <p:nvSpPr>
          <p:cNvPr id="12" name="Text Placeholder 9">
            <a:extLst>
              <a:ext uri="{FF2B5EF4-FFF2-40B4-BE49-F238E27FC236}">
                <a16:creationId xmlns:a16="http://schemas.microsoft.com/office/drawing/2014/main" id="{536F564A-D3B4-95F4-4022-1B1E1D9A156D}"/>
              </a:ext>
            </a:extLst>
          </p:cNvPr>
          <p:cNvSpPr txBox="1">
            <a:spLocks/>
          </p:cNvSpPr>
          <p:nvPr/>
        </p:nvSpPr>
        <p:spPr>
          <a:xfrm>
            <a:off x="5880264" y="5586750"/>
            <a:ext cx="5431971" cy="557950"/>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 have written an application to test the developed strategies against human participants in a later stage of the project</a:t>
            </a:r>
          </a:p>
        </p:txBody>
      </p:sp>
    </p:spTree>
    <p:extLst>
      <p:ext uri="{BB962C8B-B14F-4D97-AF65-F5344CB8AC3E}">
        <p14:creationId xmlns:p14="http://schemas.microsoft.com/office/powerpoint/2010/main" val="1844941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AFF71E5-FF07-9F11-2C43-0A6D1AD307C3}"/>
              </a:ext>
            </a:extLst>
          </p:cNvPr>
          <p:cNvPicPr>
            <a:picLocks noChangeAspect="1"/>
          </p:cNvPicPr>
          <p:nvPr/>
        </p:nvPicPr>
        <p:blipFill>
          <a:blip r:embed="rId2"/>
          <a:stretch>
            <a:fillRect/>
          </a:stretch>
        </p:blipFill>
        <p:spPr>
          <a:xfrm>
            <a:off x="8238487" y="1213727"/>
            <a:ext cx="3657917" cy="4580017"/>
          </a:xfrm>
          <a:prstGeom prst="rect">
            <a:avLst/>
          </a:prstGeom>
        </p:spPr>
      </p:pic>
      <p:pic>
        <p:nvPicPr>
          <p:cNvPr id="19" name="Picture 18" descr="A screen shot of a computer program&#10;&#10;AI-generated content may be incorrect.">
            <a:extLst>
              <a:ext uri="{FF2B5EF4-FFF2-40B4-BE49-F238E27FC236}">
                <a16:creationId xmlns:a16="http://schemas.microsoft.com/office/drawing/2014/main" id="{B6883359-603F-17AF-94D9-90381841556A}"/>
              </a:ext>
            </a:extLst>
          </p:cNvPr>
          <p:cNvPicPr>
            <a:picLocks noChangeAspect="1"/>
          </p:cNvPicPr>
          <p:nvPr/>
        </p:nvPicPr>
        <p:blipFill>
          <a:blip r:embed="rId3"/>
          <a:stretch>
            <a:fillRect/>
          </a:stretch>
        </p:blipFill>
        <p:spPr>
          <a:xfrm>
            <a:off x="207106" y="2871714"/>
            <a:ext cx="7825849" cy="2960664"/>
          </a:xfrm>
          <a:prstGeom prst="rect">
            <a:avLst/>
          </a:prstGeom>
        </p:spPr>
      </p:pic>
      <p:sp>
        <p:nvSpPr>
          <p:cNvPr id="22" name="Text Placeholder 3">
            <a:extLst>
              <a:ext uri="{FF2B5EF4-FFF2-40B4-BE49-F238E27FC236}">
                <a16:creationId xmlns:a16="http://schemas.microsoft.com/office/drawing/2014/main" id="{2B267313-D026-C1E1-AD3C-107A85197624}"/>
              </a:ext>
            </a:extLst>
          </p:cNvPr>
          <p:cNvSpPr txBox="1">
            <a:spLocks/>
          </p:cNvSpPr>
          <p:nvPr/>
        </p:nvSpPr>
        <p:spPr>
          <a:xfrm>
            <a:off x="535486" y="915482"/>
            <a:ext cx="7703001" cy="2074219"/>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My simplified version of draughts created in python</a:t>
            </a:r>
          </a:p>
          <a:p>
            <a:r>
              <a:rPr lang="en-US" sz="2000" dirty="0"/>
              <a:t>-Here we can see a sample game played with random moves</a:t>
            </a:r>
            <a:endParaRPr lang="en-IE" sz="2000" dirty="0"/>
          </a:p>
        </p:txBody>
      </p:sp>
    </p:spTree>
    <p:extLst>
      <p:ext uri="{BB962C8B-B14F-4D97-AF65-F5344CB8AC3E}">
        <p14:creationId xmlns:p14="http://schemas.microsoft.com/office/powerpoint/2010/main" val="2734803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4F723DE2-AE7F-1699-0D66-4B1F0FD8F928}"/>
              </a:ext>
            </a:extLst>
          </p:cNvPr>
          <p:cNvPicPr>
            <a:picLocks noChangeAspect="1"/>
          </p:cNvPicPr>
          <p:nvPr/>
        </p:nvPicPr>
        <p:blipFill>
          <a:blip r:embed="rId2"/>
          <a:stretch>
            <a:fillRect/>
          </a:stretch>
        </p:blipFill>
        <p:spPr>
          <a:xfrm>
            <a:off x="326761" y="2854491"/>
            <a:ext cx="11538477" cy="2221157"/>
          </a:xfrm>
          <a:prstGeom prst="rect">
            <a:avLst/>
          </a:prstGeom>
          <a:noFill/>
        </p:spPr>
      </p:pic>
      <p:sp>
        <p:nvSpPr>
          <p:cNvPr id="14" name="Content Placeholder 2">
            <a:extLst>
              <a:ext uri="{FF2B5EF4-FFF2-40B4-BE49-F238E27FC236}">
                <a16:creationId xmlns:a16="http://schemas.microsoft.com/office/drawing/2014/main" id="{51AB5CE7-543B-981F-490E-96702A1DDA03}"/>
              </a:ext>
            </a:extLst>
          </p:cNvPr>
          <p:cNvSpPr txBox="1">
            <a:spLocks/>
          </p:cNvSpPr>
          <p:nvPr/>
        </p:nvSpPr>
        <p:spPr>
          <a:xfrm>
            <a:off x="757084" y="1923310"/>
            <a:ext cx="3830893" cy="75284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Draft BNF Grammar:</a:t>
            </a:r>
          </a:p>
        </p:txBody>
      </p:sp>
    </p:spTree>
    <p:extLst>
      <p:ext uri="{BB962C8B-B14F-4D97-AF65-F5344CB8AC3E}">
        <p14:creationId xmlns:p14="http://schemas.microsoft.com/office/powerpoint/2010/main" val="1181367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2933700" y="892177"/>
            <a:ext cx="8421688" cy="1325563"/>
          </a:xfrm>
        </p:spPr>
        <p:txBody>
          <a:bodyPr anchor="ctr">
            <a:normAutofit/>
          </a:bodyPr>
          <a:lstStyle/>
          <a:p>
            <a:r>
              <a:rPr lang="en-US" dirty="0"/>
              <a:t>Planned Work</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idx="1"/>
          </p:nvPr>
        </p:nvSpPr>
        <p:spPr>
          <a:xfrm>
            <a:off x="2933700" y="2776936"/>
            <a:ext cx="3924300" cy="823912"/>
          </a:xfrm>
        </p:spPr>
        <p:txBody>
          <a:bodyPr vert="horz" lIns="91440" tIns="45720" rIns="91440" bIns="45720" rtlCol="0" anchor="b">
            <a:normAutofit/>
          </a:bodyPr>
          <a:lstStyle/>
          <a:p>
            <a:r>
              <a:rPr lang="en-US" dirty="0"/>
              <a:t>Short Term</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sz="half" idx="2"/>
          </p:nvPr>
        </p:nvSpPr>
        <p:spPr>
          <a:xfrm>
            <a:off x="2933700" y="3834606"/>
            <a:ext cx="3924300" cy="1997867"/>
          </a:xfrm>
        </p:spPr>
        <p:txBody>
          <a:bodyPr>
            <a:normAutofit/>
          </a:bodyPr>
          <a:lstStyle/>
          <a:p>
            <a:r>
              <a:rPr lang="en-US" dirty="0"/>
              <a:t>Continue research and continue to increase my fundamental understanding of GE</a:t>
            </a:r>
          </a:p>
          <a:p>
            <a:r>
              <a:rPr lang="en-US" dirty="0"/>
              <a:t>Finalize grammar design and integrate with the first simplified version of draughts</a:t>
            </a:r>
          </a:p>
          <a:p>
            <a:r>
              <a:rPr lang="en-US" dirty="0"/>
              <a:t>Run initial GE experiments and evaluate the resulting strategies</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3"/>
          </p:nvPr>
        </p:nvSpPr>
        <p:spPr>
          <a:xfrm>
            <a:off x="7410173" y="2776936"/>
            <a:ext cx="3943627" cy="823912"/>
          </a:xfrm>
        </p:spPr>
        <p:txBody>
          <a:bodyPr anchor="b">
            <a:normAutofit/>
          </a:bodyPr>
          <a:lstStyle/>
          <a:p>
            <a:r>
              <a:rPr lang="en-US" dirty="0"/>
              <a:t>Long Term</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sz="quarter" idx="4"/>
          </p:nvPr>
        </p:nvSpPr>
        <p:spPr>
          <a:xfrm>
            <a:off x="7410173" y="3834606"/>
            <a:ext cx="3943627" cy="1997867"/>
          </a:xfrm>
        </p:spPr>
        <p:txBody>
          <a:bodyPr>
            <a:normAutofit/>
          </a:bodyPr>
          <a:lstStyle/>
          <a:p>
            <a:r>
              <a:rPr lang="en-US" dirty="0"/>
              <a:t>Improve grammar and the fitness function</a:t>
            </a:r>
          </a:p>
          <a:p>
            <a:r>
              <a:rPr lang="en-US" dirty="0"/>
              <a:t>Scale up the game complexity to standard draughts in phases</a:t>
            </a:r>
          </a:p>
          <a:p>
            <a:r>
              <a:rPr lang="en-US" dirty="0"/>
              <a:t>Add a UI for human prototype testing</a:t>
            </a:r>
          </a:p>
          <a:p>
            <a:r>
              <a:rPr lang="en-US" dirty="0"/>
              <a:t>Analysis and visualization of the evolution process</a:t>
            </a:r>
          </a:p>
          <a:p>
            <a:endParaRPr lang="en-US" dirty="0"/>
          </a:p>
        </p:txBody>
      </p:sp>
    </p:spTree>
    <p:extLst>
      <p:ext uri="{BB962C8B-B14F-4D97-AF65-F5344CB8AC3E}">
        <p14:creationId xmlns:p14="http://schemas.microsoft.com/office/powerpoint/2010/main" val="1472106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a:lstStyle/>
          <a:p>
            <a:r>
              <a:rPr lang="en-US" dirty="0"/>
              <a:t>Expected Timeline</a:t>
            </a:r>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9854892" y="2244890"/>
            <a:ext cx="2196465" cy="561975"/>
          </a:xfrm>
          <a:prstGeom prst="rect">
            <a:avLst/>
          </a:prstGeom>
        </p:spPr>
        <p:txBody>
          <a:bodyPr vert="horz" lIns="91440" tIns="45720" rIns="91440" bIns="45720" rtlCol="0" anchor="b">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First evolution experiments</a:t>
            </a:r>
            <a:endParaRPr lang="en-US" sz="1100" dirty="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8223195" y="2258277"/>
            <a:ext cx="1759004" cy="561975"/>
          </a:xfrm>
          <a:prstGeom prst="rect">
            <a:avLst/>
          </a:prstGeom>
        </p:spPr>
        <p:txBody>
          <a:bodyPr vert="horz" lIns="91440" tIns="45720" rIns="91440" bIns="45720" rtlCol="0" anchor="b">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Research and Setup</a:t>
            </a:r>
            <a:endParaRPr lang="en-US" sz="1100" dirty="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a:normAutofit/>
          </a:bodyPr>
          <a:lstStyle/>
          <a:p>
            <a:r>
              <a:rPr lang="en-US" dirty="0"/>
              <a:t>2025</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a:normAutofit fontScale="85000" lnSpcReduction="20000"/>
          </a:bodyPr>
          <a:lstStyle/>
          <a:p>
            <a:r>
              <a:rPr lang="en-US" dirty="0"/>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a:normAutofit fontScale="85000" lnSpcReduction="20000"/>
          </a:bodyPr>
          <a:lstStyle/>
          <a:p>
            <a:r>
              <a:rPr lang="en-US" dirty="0"/>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a:normAutofit fontScale="85000" lnSpcReduction="20000"/>
          </a:bodyPr>
          <a:lstStyle/>
          <a:p>
            <a:r>
              <a:rPr lang="en-US" dirty="0"/>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a:normAutofit fontScale="85000" lnSpcReduction="20000"/>
          </a:bodyPr>
          <a:lstStyle/>
          <a:p>
            <a:r>
              <a:rPr lang="en-US" dirty="0"/>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a:normAutofit fontScale="85000" lnSpcReduction="20000"/>
          </a:bodyPr>
          <a:lstStyle/>
          <a:p>
            <a:r>
              <a:rPr lang="en-US" dirty="0"/>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a:normAutofit fontScale="85000" lnSpcReduction="20000"/>
          </a:bodyPr>
          <a:lstStyle/>
          <a:p>
            <a:r>
              <a:rPr lang="en-US" dirty="0"/>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a:normAutofit fontScale="85000" lnSpcReduction="20000"/>
          </a:bodyPr>
          <a:lstStyle/>
          <a:p>
            <a:r>
              <a:rPr lang="en-US" dirty="0"/>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a:normAutofit fontScale="85000" lnSpcReduction="20000"/>
          </a:bodyPr>
          <a:lstStyle/>
          <a:p>
            <a:r>
              <a:rPr lang="en-US" dirty="0"/>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a:normAutofit fontScale="85000" lnSpcReduction="20000"/>
          </a:bodyPr>
          <a:lstStyle/>
          <a:p>
            <a:r>
              <a:rPr lang="en-US" dirty="0"/>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a:normAutofit fontScale="85000" lnSpcReduction="20000"/>
          </a:bodyPr>
          <a:lstStyle/>
          <a:p>
            <a:r>
              <a:rPr lang="en-US" dirty="0"/>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a:normAutofit fontScale="85000" lnSpcReduction="20000"/>
          </a:bodyPr>
          <a:lstStyle/>
          <a:p>
            <a:r>
              <a:rPr lang="en-US" dirty="0"/>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a:normAutofit fontScale="85000" lnSpcReduction="20000"/>
          </a:bodyPr>
          <a:lstStyle/>
          <a:p>
            <a:r>
              <a:rPr lang="en-US" dirty="0"/>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a:normAutofit/>
          </a:bodyPr>
          <a:lstStyle/>
          <a:p>
            <a:r>
              <a:rPr lang="en-US" dirty="0"/>
              <a:t>2026</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a:normAutofit fontScale="85000" lnSpcReduction="20000"/>
          </a:bodyPr>
          <a:lstStyle/>
          <a:p>
            <a:r>
              <a:rPr lang="en-US" dirty="0"/>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a:normAutofit fontScale="85000" lnSpcReduction="20000"/>
          </a:bodyPr>
          <a:lstStyle/>
          <a:p>
            <a:r>
              <a:rPr lang="en-US" dirty="0"/>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a:normAutofit fontScale="85000" lnSpcReduction="20000"/>
          </a:bodyPr>
          <a:lstStyle/>
          <a:p>
            <a:r>
              <a:rPr lang="en-US" dirty="0"/>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a:normAutofit fontScale="85000" lnSpcReduction="20000"/>
          </a:bodyPr>
          <a:lstStyle/>
          <a:p>
            <a:r>
              <a:rPr lang="en-US" dirty="0"/>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a:normAutofit fontScale="85000" lnSpcReduction="20000"/>
          </a:bodyPr>
          <a:lstStyle/>
          <a:p>
            <a:r>
              <a:rPr lang="en-US" dirty="0"/>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a:normAutofit fontScale="85000" lnSpcReduction="20000"/>
          </a:bodyPr>
          <a:lstStyle/>
          <a:p>
            <a:r>
              <a:rPr lang="en-US" dirty="0"/>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a:normAutofit fontScale="85000" lnSpcReduction="20000"/>
          </a:bodyPr>
          <a:lstStyle/>
          <a:p>
            <a:r>
              <a:rPr lang="en-US" dirty="0"/>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a:normAutofit fontScale="85000" lnSpcReduction="20000"/>
          </a:bodyPr>
          <a:lstStyle/>
          <a:p>
            <a:r>
              <a:rPr lang="en-US" dirty="0"/>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a:normAutofit fontScale="85000" lnSpcReduction="20000"/>
          </a:bodyPr>
          <a:lstStyle/>
          <a:p>
            <a:r>
              <a:rPr lang="en-US" dirty="0"/>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a:normAutofit fontScale="85000" lnSpcReduction="20000"/>
          </a:bodyPr>
          <a:lstStyle/>
          <a:p>
            <a:r>
              <a:rPr lang="en-US" dirty="0"/>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a:normAutofit fontScale="85000" lnSpcReduction="20000"/>
          </a:bodyPr>
          <a:lstStyle/>
          <a:p>
            <a:r>
              <a:rPr lang="en-US" dirty="0"/>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a:normAutofit fontScale="85000" lnSpcReduction="20000"/>
          </a:bodyPr>
          <a:lstStyle/>
          <a:p>
            <a:r>
              <a:rPr lang="en-US" dirty="0"/>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9320489" y="2929998"/>
            <a:ext cx="434276"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10928805" y="2912263"/>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9096168" y="3463398"/>
            <a:ext cx="1317193"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10672009" y="3450287"/>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866364" y="5185901"/>
            <a:ext cx="2204520" cy="86192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Refinement and scaling of game complexity</a:t>
            </a:r>
            <a:endParaRPr lang="en-US" sz="1100" dirty="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flipH="1">
            <a:off x="2288019" y="4638776"/>
            <a:ext cx="364164"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3002417" y="5159681"/>
            <a:ext cx="1645980" cy="104240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UI development and human testing</a:t>
            </a:r>
            <a:endParaRPr lang="en-US" sz="1100" dirty="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3877249"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4728818" y="5210924"/>
            <a:ext cx="1645980" cy="632356"/>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Final analysis and report</a:t>
            </a:r>
            <a:endParaRPr lang="en-US" sz="1100" dirty="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5084801" y="4638776"/>
            <a:ext cx="280976" cy="630348"/>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1259291"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3613786"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4411882" y="4363848"/>
            <a:ext cx="1345838"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2316B99-9FB6-9F59-A03E-3302256564AA}"/>
              </a:ext>
            </a:extLst>
          </p:cNvPr>
          <p:cNvSpPr txBox="1"/>
          <p:nvPr/>
        </p:nvSpPr>
        <p:spPr>
          <a:xfrm>
            <a:off x="748727" y="1292881"/>
            <a:ext cx="5586145" cy="923330"/>
          </a:xfrm>
          <a:prstGeom prst="rect">
            <a:avLst/>
          </a:prstGeom>
          <a:noFill/>
        </p:spPr>
        <p:txBody>
          <a:bodyPr wrap="none" rtlCol="0">
            <a:spAutoFit/>
          </a:bodyPr>
          <a:lstStyle/>
          <a:p>
            <a:r>
              <a:rPr lang="en-IE" dirty="0"/>
              <a:t>Given the current semester’s workload it’s likely </a:t>
            </a:r>
          </a:p>
          <a:p>
            <a:r>
              <a:rPr lang="en-IE" dirty="0"/>
              <a:t>that the progress will be concentrated around the </a:t>
            </a:r>
          </a:p>
          <a:p>
            <a:r>
              <a:rPr lang="en-IE" dirty="0"/>
              <a:t>Christmas holidays when no other projects are running</a:t>
            </a:r>
          </a:p>
        </p:txBody>
      </p:sp>
    </p:spTree>
    <p:extLst>
      <p:ext uri="{BB962C8B-B14F-4D97-AF65-F5344CB8AC3E}">
        <p14:creationId xmlns:p14="http://schemas.microsoft.com/office/powerpoint/2010/main" val="3084972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F8CEC-7510-1658-2743-38DC59E8B7B5}"/>
              </a:ext>
            </a:extLst>
          </p:cNvPr>
          <p:cNvSpPr>
            <a:spLocks noGrp="1"/>
          </p:cNvSpPr>
          <p:nvPr>
            <p:ph type="title"/>
          </p:nvPr>
        </p:nvSpPr>
        <p:spPr>
          <a:xfrm>
            <a:off x="5260565" y="444954"/>
            <a:ext cx="5111750" cy="1204912"/>
          </a:xfrm>
        </p:spPr>
        <p:txBody>
          <a:bodyPr/>
          <a:lstStyle/>
          <a:p>
            <a:r>
              <a:rPr lang="en-US" dirty="0"/>
              <a:t>Challenges and considerations</a:t>
            </a:r>
            <a:endParaRPr lang="en-IE" dirty="0"/>
          </a:p>
        </p:txBody>
      </p:sp>
      <p:sp>
        <p:nvSpPr>
          <p:cNvPr id="3" name="Text Placeholder 2">
            <a:extLst>
              <a:ext uri="{FF2B5EF4-FFF2-40B4-BE49-F238E27FC236}">
                <a16:creationId xmlns:a16="http://schemas.microsoft.com/office/drawing/2014/main" id="{6373ADE4-91B0-A820-7146-B784D212B250}"/>
              </a:ext>
            </a:extLst>
          </p:cNvPr>
          <p:cNvSpPr>
            <a:spLocks noGrp="1"/>
          </p:cNvSpPr>
          <p:nvPr>
            <p:ph type="body" idx="1"/>
          </p:nvPr>
        </p:nvSpPr>
        <p:spPr>
          <a:xfrm>
            <a:off x="5260564" y="1837301"/>
            <a:ext cx="6931436" cy="2754364"/>
          </a:xfrm>
        </p:spPr>
        <p:txBody>
          <a:bodyPr>
            <a:normAutofit/>
          </a:bodyPr>
          <a:lstStyle/>
          <a:p>
            <a:pPr marL="285750" indent="-285750">
              <a:buFont typeface="Arial" panose="020B0604020202020204" pitchFamily="34" charset="0"/>
              <a:buChar char="•"/>
            </a:pPr>
            <a:r>
              <a:rPr lang="en-US" sz="2000" dirty="0"/>
              <a:t>Integrating GRAPE with custom Draughts environments is technical</a:t>
            </a:r>
          </a:p>
          <a:p>
            <a:pPr marL="285750" indent="-285750">
              <a:buFont typeface="Arial" panose="020B0604020202020204" pitchFamily="34" charset="0"/>
              <a:buChar char="•"/>
            </a:pPr>
            <a:r>
              <a:rPr lang="en-US" sz="2000" dirty="0"/>
              <a:t>Designing the grammar is complex</a:t>
            </a:r>
          </a:p>
          <a:p>
            <a:pPr marL="285750" indent="-285750">
              <a:buFont typeface="Arial" panose="020B0604020202020204" pitchFamily="34" charset="0"/>
              <a:buChar char="•"/>
            </a:pPr>
            <a:r>
              <a:rPr lang="en-US" sz="2000" dirty="0"/>
              <a:t>Defining a fitness function that is meaningful</a:t>
            </a:r>
          </a:p>
          <a:p>
            <a:pPr marL="285750" indent="-285750">
              <a:buFont typeface="Arial" panose="020B0604020202020204" pitchFamily="34" charset="0"/>
              <a:buChar char="•"/>
            </a:pPr>
            <a:r>
              <a:rPr lang="en-US" sz="2000" dirty="0"/>
              <a:t>Scaling complexity (how complex to be for each stage)</a:t>
            </a:r>
          </a:p>
          <a:p>
            <a:pPr marL="285750" indent="-285750">
              <a:buFont typeface="Arial" panose="020B0604020202020204" pitchFamily="34" charset="0"/>
              <a:buChar char="•"/>
            </a:pPr>
            <a:r>
              <a:rPr lang="en-US" sz="2000" dirty="0"/>
              <a:t>Managing time to meet deadlines and equally divide work amongst different aspects of the project</a:t>
            </a:r>
            <a:endParaRPr lang="en-IE" sz="2000" dirty="0"/>
          </a:p>
        </p:txBody>
      </p:sp>
    </p:spTree>
    <p:extLst>
      <p:ext uri="{BB962C8B-B14F-4D97-AF65-F5344CB8AC3E}">
        <p14:creationId xmlns:p14="http://schemas.microsoft.com/office/powerpoint/2010/main" val="2440780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105563" y="1009930"/>
            <a:ext cx="4179570" cy="1524735"/>
          </a:xfrm>
        </p:spPr>
        <p:txBody>
          <a:bodyPr/>
          <a:lstStyle/>
          <a:p>
            <a:r>
              <a:rPr lang="en-US" dirty="0"/>
              <a:t>THANK YOU For Listening</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105563" y="3373960"/>
            <a:ext cx="2661557" cy="705825"/>
          </a:xfrm>
        </p:spPr>
        <p:txBody>
          <a:bodyPr>
            <a:normAutofit/>
          </a:bodyPr>
          <a:lstStyle/>
          <a:p>
            <a:r>
              <a:rPr lang="en-US" dirty="0"/>
              <a:t>Cormac Greaney</a:t>
            </a:r>
            <a:br>
              <a:rPr lang="en-US" dirty="0"/>
            </a:br>
            <a:r>
              <a:rPr lang="en-US" dirty="0"/>
              <a:t>22352228@studentmail.ul.ie</a:t>
            </a:r>
          </a:p>
        </p:txBody>
      </p:sp>
      <p:sp>
        <p:nvSpPr>
          <p:cNvPr id="7" name="Content Placeholder 2">
            <a:extLst>
              <a:ext uri="{FF2B5EF4-FFF2-40B4-BE49-F238E27FC236}">
                <a16:creationId xmlns:a16="http://schemas.microsoft.com/office/drawing/2014/main" id="{867E9269-85F9-6F42-B9CD-CBAD9EDCFF8A}"/>
              </a:ext>
            </a:extLst>
          </p:cNvPr>
          <p:cNvSpPr txBox="1">
            <a:spLocks/>
          </p:cNvSpPr>
          <p:nvPr/>
        </p:nvSpPr>
        <p:spPr>
          <a:xfrm>
            <a:off x="4105563" y="2534666"/>
            <a:ext cx="3357419" cy="596462"/>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ts val="1000"/>
              </a:spcBef>
              <a:buFont typeface="Arial" panose="020B0604020202020204" pitchFamily="34" charset="0"/>
              <a:buNone/>
              <a:defRPr sz="1400" kern="1200" spc="50" baseline="0">
                <a:solidFill>
                  <a:schemeClr val="tx1">
                    <a:lumMod val="75000"/>
                    <a:lumOff val="2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400" dirty="0"/>
              <a:t>Any Questions?</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6E94D4DF-24E6-4758-8701-2C20AC2BF2DD}" vid="{D9C778EE-A573-4D68-89BA-A3DB5F810E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2220b51-63e5-45ea-8d88-10df70f0202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F95DE730D1F52469A8DE4CEBD1FE55C" ma:contentTypeVersion="10" ma:contentTypeDescription="Create a new document." ma:contentTypeScope="" ma:versionID="6dcc1130cc86a7423d63890359cff24a">
  <xsd:schema xmlns:xsd="http://www.w3.org/2001/XMLSchema" xmlns:xs="http://www.w3.org/2001/XMLSchema" xmlns:p="http://schemas.microsoft.com/office/2006/metadata/properties" xmlns:ns3="42220b51-63e5-45ea-8d88-10df70f0202d" targetNamespace="http://schemas.microsoft.com/office/2006/metadata/properties" ma:root="true" ma:fieldsID="dd6772b74440e507ce8946c36e75698f" ns3:_="">
    <xsd:import namespace="42220b51-63e5-45ea-8d88-10df70f0202d"/>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element ref="ns3:MediaServiceDateTaken" minOccurs="0"/>
                <xsd:element ref="ns3:_activity" minOccurs="0"/>
                <xsd:element ref="ns3:MediaServiceSystemTags"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220b51-63e5-45ea-8d88-10df70f020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11845F9-C5F4-4AA5-BA9E-EC2182E91488}">
  <ds:schemaRefs>
    <ds:schemaRef ds:uri="http://schemas.microsoft.com/office/2006/documentManagement/types"/>
    <ds:schemaRef ds:uri="http://purl.org/dc/dcmitype/"/>
    <ds:schemaRef ds:uri="http://purl.org/dc/terms/"/>
    <ds:schemaRef ds:uri="http://www.w3.org/XML/1998/namespace"/>
    <ds:schemaRef ds:uri="http://schemas.microsoft.com/office/infopath/2007/PartnerControls"/>
    <ds:schemaRef ds:uri="http://schemas.openxmlformats.org/package/2006/metadata/core-properties"/>
    <ds:schemaRef ds:uri="42220b51-63e5-45ea-8d88-10df70f0202d"/>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6C8B084D-D430-4822-B3CB-DEADB2E7A5FC}">
  <ds:schemaRefs>
    <ds:schemaRef ds:uri="http://schemas.microsoft.com/sharepoint/v3/contenttype/forms"/>
  </ds:schemaRefs>
</ds:datastoreItem>
</file>

<file path=customXml/itemProps3.xml><?xml version="1.0" encoding="utf-8"?>
<ds:datastoreItem xmlns:ds="http://schemas.openxmlformats.org/officeDocument/2006/customXml" ds:itemID="{7EE41FA6-7B5B-4029-A216-4D4B6302AE6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220b51-63e5-45ea-8d88-10df70f020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0084b924-3ab4-4116-9251-9939f695e54c}" enabled="0" method="" siteId="{0084b924-3ab4-4116-9251-9939f695e54c}" removed="1"/>
</clbl:labelList>
</file>

<file path=docProps/app.xml><?xml version="1.0" encoding="utf-8"?>
<Properties xmlns="http://schemas.openxmlformats.org/officeDocument/2006/extended-properties" xmlns:vt="http://schemas.openxmlformats.org/officeDocument/2006/docPropsVTypes">
  <Template/>
  <TotalTime>1659</TotalTime>
  <Words>923</Words>
  <Application>Microsoft Office PowerPoint</Application>
  <PresentationFormat>Widescreen</PresentationFormat>
  <Paragraphs>120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Tenorite</vt:lpstr>
      <vt:lpstr>Monoline</vt:lpstr>
      <vt:lpstr>EvoGame:  Evolving Game Strategies Using GE (Grammatical Evolution) </vt:lpstr>
      <vt:lpstr>Contents</vt:lpstr>
      <vt:lpstr>Project Overview</vt:lpstr>
      <vt:lpstr>Objectives</vt:lpstr>
      <vt:lpstr>Motivation</vt:lpstr>
      <vt:lpstr>Existing Draughts Bots – WHY GE is still worth it </vt:lpstr>
      <vt:lpstr>Progress to Date</vt:lpstr>
      <vt:lpstr>PowerPoint Presentation</vt:lpstr>
      <vt:lpstr>PowerPoint Presentation</vt:lpstr>
      <vt:lpstr>Planned Work</vt:lpstr>
      <vt:lpstr>Expected Timeline</vt:lpstr>
      <vt:lpstr>Challenges and considerations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Cormac Greaney</dc:creator>
  <cp:lastModifiedBy>ULStudent:CORMAC.GREANEY</cp:lastModifiedBy>
  <cp:revision>70</cp:revision>
  <dcterms:created xsi:type="dcterms:W3CDTF">2023-07-24T01:11:48Z</dcterms:created>
  <dcterms:modified xsi:type="dcterms:W3CDTF">2025-12-21T00:08:57Z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0x010100FF95DE730D1F52469A8DE4CEBD1FE55C</vt:lpwstr>
  </property>
  <property fmtid="{D5CDD505-2E9C-101B-9397-08002B2CF9AE}" pid="3" name="MediaServiceImageTags">
    <vt:lpwstr/>
  </property>
</Properties>
</file>